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4ADE90-41E3-7C44-A893-805671C644D7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9B215DB2-A22A-DA4E-B4BB-EC935679FBE7}">
      <dgm:prSet phldrT="[Text]"/>
      <dgm:spPr/>
      <dgm:t>
        <a:bodyPr/>
        <a:lstStyle/>
        <a:p>
          <a:r>
            <a:rPr lang="en-US" dirty="0"/>
            <a:t>Categorical Features </a:t>
          </a:r>
        </a:p>
      </dgm:t>
    </dgm:pt>
    <dgm:pt modelId="{4D25EF07-FFAC-DC49-96C3-7A8B93B47F4F}" type="parTrans" cxnId="{31C053E0-3D7F-C24E-B0B0-FC83C4BCE531}">
      <dgm:prSet/>
      <dgm:spPr/>
      <dgm:t>
        <a:bodyPr/>
        <a:lstStyle/>
        <a:p>
          <a:endParaRPr lang="en-US"/>
        </a:p>
      </dgm:t>
    </dgm:pt>
    <dgm:pt modelId="{E95D9FBF-A6C3-6743-B63C-B704C72B373E}" type="sibTrans" cxnId="{31C053E0-3D7F-C24E-B0B0-FC83C4BCE531}">
      <dgm:prSet/>
      <dgm:spPr/>
      <dgm:t>
        <a:bodyPr/>
        <a:lstStyle/>
        <a:p>
          <a:endParaRPr lang="en-US"/>
        </a:p>
      </dgm:t>
    </dgm:pt>
    <dgm:pt modelId="{14F9AEF3-E5E9-D544-82DA-055E1B3F562A}">
      <dgm:prSet phldrT="[Text]"/>
      <dgm:spPr/>
      <dgm:t>
        <a:bodyPr/>
        <a:lstStyle/>
        <a:p>
          <a:r>
            <a:rPr lang="en-US" dirty="0" err="1"/>
            <a:t>StringIndexer</a:t>
          </a:r>
          <a:endParaRPr lang="en-US" dirty="0"/>
        </a:p>
      </dgm:t>
    </dgm:pt>
    <dgm:pt modelId="{9CFB7AC1-EA80-064C-99B9-AAA1A4CE9926}" type="parTrans" cxnId="{42932E12-91CA-054F-B5C2-DE52BFB666C4}">
      <dgm:prSet/>
      <dgm:spPr/>
      <dgm:t>
        <a:bodyPr/>
        <a:lstStyle/>
        <a:p>
          <a:endParaRPr lang="en-US"/>
        </a:p>
      </dgm:t>
    </dgm:pt>
    <dgm:pt modelId="{5CC39B18-5BB9-484B-8DB3-79FE256C291E}" type="sibTrans" cxnId="{42932E12-91CA-054F-B5C2-DE52BFB666C4}">
      <dgm:prSet/>
      <dgm:spPr/>
      <dgm:t>
        <a:bodyPr/>
        <a:lstStyle/>
        <a:p>
          <a:endParaRPr lang="en-US"/>
        </a:p>
      </dgm:t>
    </dgm:pt>
    <dgm:pt modelId="{8B7640DB-C498-794D-B98A-C77E2E913370}">
      <dgm:prSet phldrT="[Text]"/>
      <dgm:spPr/>
      <dgm:t>
        <a:bodyPr/>
        <a:lstStyle/>
        <a:p>
          <a:r>
            <a:rPr lang="en-US" dirty="0" err="1"/>
            <a:t>VectorAssembler</a:t>
          </a:r>
          <a:endParaRPr lang="en-US" dirty="0"/>
        </a:p>
      </dgm:t>
    </dgm:pt>
    <dgm:pt modelId="{2C4A0634-26D1-8149-828C-CEB3B318F59E}" type="parTrans" cxnId="{04DF19E0-EFC9-4840-A537-9C7A546078BB}">
      <dgm:prSet/>
      <dgm:spPr/>
      <dgm:t>
        <a:bodyPr/>
        <a:lstStyle/>
        <a:p>
          <a:endParaRPr lang="en-US"/>
        </a:p>
      </dgm:t>
    </dgm:pt>
    <dgm:pt modelId="{C41A99B5-F7C2-5E41-8EEE-3BD51080372C}" type="sibTrans" cxnId="{04DF19E0-EFC9-4840-A537-9C7A546078BB}">
      <dgm:prSet/>
      <dgm:spPr/>
      <dgm:t>
        <a:bodyPr/>
        <a:lstStyle/>
        <a:p>
          <a:endParaRPr lang="en-US"/>
        </a:p>
      </dgm:t>
    </dgm:pt>
    <dgm:pt modelId="{53354EF5-A361-E640-B177-71EAC8A9EEA3}">
      <dgm:prSet/>
      <dgm:spPr/>
      <dgm:t>
        <a:bodyPr/>
        <a:lstStyle/>
        <a:p>
          <a:r>
            <a:rPr lang="en-US" dirty="0"/>
            <a:t>Logistic Regression</a:t>
          </a:r>
        </a:p>
      </dgm:t>
    </dgm:pt>
    <dgm:pt modelId="{52943CFB-DA03-954F-82E4-9D0EA103DD6F}" type="parTrans" cxnId="{B31220E1-7C4C-AB4C-BBCC-AF5D0FDB18F9}">
      <dgm:prSet/>
      <dgm:spPr/>
      <dgm:t>
        <a:bodyPr/>
        <a:lstStyle/>
        <a:p>
          <a:endParaRPr lang="en-US"/>
        </a:p>
      </dgm:t>
    </dgm:pt>
    <dgm:pt modelId="{CBB8725A-C824-F14B-8A48-F730E808AC86}" type="sibTrans" cxnId="{B31220E1-7C4C-AB4C-BBCC-AF5D0FDB18F9}">
      <dgm:prSet/>
      <dgm:spPr/>
      <dgm:t>
        <a:bodyPr/>
        <a:lstStyle/>
        <a:p>
          <a:endParaRPr lang="en-US"/>
        </a:p>
      </dgm:t>
    </dgm:pt>
    <dgm:pt modelId="{097FFB86-56B7-034E-805D-29C0FE37D667}">
      <dgm:prSet/>
      <dgm:spPr/>
      <dgm:t>
        <a:bodyPr/>
        <a:lstStyle/>
        <a:p>
          <a:r>
            <a:rPr lang="en-US" dirty="0"/>
            <a:t>Prediction</a:t>
          </a:r>
        </a:p>
      </dgm:t>
    </dgm:pt>
    <dgm:pt modelId="{2154A0EB-98F0-9C44-8BBA-96E48BF84EDF}" type="parTrans" cxnId="{18B59C25-D4C7-FB45-91C7-86B4B38D3967}">
      <dgm:prSet/>
      <dgm:spPr/>
      <dgm:t>
        <a:bodyPr/>
        <a:lstStyle/>
        <a:p>
          <a:endParaRPr lang="en-US"/>
        </a:p>
      </dgm:t>
    </dgm:pt>
    <dgm:pt modelId="{E7D77FDD-DC8C-704D-9D95-1C2D4D465441}" type="sibTrans" cxnId="{18B59C25-D4C7-FB45-91C7-86B4B38D3967}">
      <dgm:prSet/>
      <dgm:spPr/>
      <dgm:t>
        <a:bodyPr/>
        <a:lstStyle/>
        <a:p>
          <a:endParaRPr lang="en-US"/>
        </a:p>
      </dgm:t>
    </dgm:pt>
    <dgm:pt modelId="{589F85AF-1A20-4948-92D7-4516DFDFACD7}" type="pres">
      <dgm:prSet presAssocID="{F54ADE90-41E3-7C44-A893-805671C644D7}" presName="linearFlow" presStyleCnt="0">
        <dgm:presLayoutVars>
          <dgm:resizeHandles val="exact"/>
        </dgm:presLayoutVars>
      </dgm:prSet>
      <dgm:spPr/>
    </dgm:pt>
    <dgm:pt modelId="{6AFEB704-41A1-F743-9E37-403B3CD6694F}" type="pres">
      <dgm:prSet presAssocID="{9B215DB2-A22A-DA4E-B4BB-EC935679FBE7}" presName="node" presStyleLbl="node1" presStyleIdx="0" presStyleCnt="5">
        <dgm:presLayoutVars>
          <dgm:bulletEnabled val="1"/>
        </dgm:presLayoutVars>
      </dgm:prSet>
      <dgm:spPr/>
    </dgm:pt>
    <dgm:pt modelId="{930BCA84-F5CB-054F-B5EE-AD84566B8B7A}" type="pres">
      <dgm:prSet presAssocID="{E95D9FBF-A6C3-6743-B63C-B704C72B373E}" presName="sibTrans" presStyleLbl="sibTrans2D1" presStyleIdx="0" presStyleCnt="4"/>
      <dgm:spPr/>
    </dgm:pt>
    <dgm:pt modelId="{B0B0C375-2B8C-B845-AD93-13B4B5FE9A5E}" type="pres">
      <dgm:prSet presAssocID="{E95D9FBF-A6C3-6743-B63C-B704C72B373E}" presName="connectorText" presStyleLbl="sibTrans2D1" presStyleIdx="0" presStyleCnt="4"/>
      <dgm:spPr/>
    </dgm:pt>
    <dgm:pt modelId="{A08734C8-6245-9449-96D1-34E5A8B57BCD}" type="pres">
      <dgm:prSet presAssocID="{14F9AEF3-E5E9-D544-82DA-055E1B3F562A}" presName="node" presStyleLbl="node1" presStyleIdx="1" presStyleCnt="5">
        <dgm:presLayoutVars>
          <dgm:bulletEnabled val="1"/>
        </dgm:presLayoutVars>
      </dgm:prSet>
      <dgm:spPr/>
    </dgm:pt>
    <dgm:pt modelId="{24626AF6-0B56-FD4E-988B-C7E8B3EBE6BD}" type="pres">
      <dgm:prSet presAssocID="{5CC39B18-5BB9-484B-8DB3-79FE256C291E}" presName="sibTrans" presStyleLbl="sibTrans2D1" presStyleIdx="1" presStyleCnt="4"/>
      <dgm:spPr/>
    </dgm:pt>
    <dgm:pt modelId="{90D333EB-FF13-3944-A686-FEFDD7DF4566}" type="pres">
      <dgm:prSet presAssocID="{5CC39B18-5BB9-484B-8DB3-79FE256C291E}" presName="connectorText" presStyleLbl="sibTrans2D1" presStyleIdx="1" presStyleCnt="4"/>
      <dgm:spPr/>
    </dgm:pt>
    <dgm:pt modelId="{1C72841B-B6A9-BA44-AB53-41CEA258ECC8}" type="pres">
      <dgm:prSet presAssocID="{8B7640DB-C498-794D-B98A-C77E2E913370}" presName="node" presStyleLbl="node1" presStyleIdx="2" presStyleCnt="5">
        <dgm:presLayoutVars>
          <dgm:bulletEnabled val="1"/>
        </dgm:presLayoutVars>
      </dgm:prSet>
      <dgm:spPr/>
    </dgm:pt>
    <dgm:pt modelId="{500A5A80-AE51-8D45-A62D-F90100C6E1A6}" type="pres">
      <dgm:prSet presAssocID="{C41A99B5-F7C2-5E41-8EEE-3BD51080372C}" presName="sibTrans" presStyleLbl="sibTrans2D1" presStyleIdx="2" presStyleCnt="4"/>
      <dgm:spPr/>
    </dgm:pt>
    <dgm:pt modelId="{D22CD11B-E517-B841-9EA9-7474367BBE90}" type="pres">
      <dgm:prSet presAssocID="{C41A99B5-F7C2-5E41-8EEE-3BD51080372C}" presName="connectorText" presStyleLbl="sibTrans2D1" presStyleIdx="2" presStyleCnt="4"/>
      <dgm:spPr/>
    </dgm:pt>
    <dgm:pt modelId="{B05C63B4-1DE5-B944-917D-305EBE97BF71}" type="pres">
      <dgm:prSet presAssocID="{53354EF5-A361-E640-B177-71EAC8A9EEA3}" presName="node" presStyleLbl="node1" presStyleIdx="3" presStyleCnt="5">
        <dgm:presLayoutVars>
          <dgm:bulletEnabled val="1"/>
        </dgm:presLayoutVars>
      </dgm:prSet>
      <dgm:spPr/>
    </dgm:pt>
    <dgm:pt modelId="{E6B8B178-0E16-144C-8C87-3FEC6CD97D89}" type="pres">
      <dgm:prSet presAssocID="{CBB8725A-C824-F14B-8A48-F730E808AC86}" presName="sibTrans" presStyleLbl="sibTrans2D1" presStyleIdx="3" presStyleCnt="4"/>
      <dgm:spPr/>
    </dgm:pt>
    <dgm:pt modelId="{2D25785F-10A4-BD49-8A33-1887479FE963}" type="pres">
      <dgm:prSet presAssocID="{CBB8725A-C824-F14B-8A48-F730E808AC86}" presName="connectorText" presStyleLbl="sibTrans2D1" presStyleIdx="3" presStyleCnt="4"/>
      <dgm:spPr/>
    </dgm:pt>
    <dgm:pt modelId="{A1083BA3-020B-5040-AE14-9A70A6949D55}" type="pres">
      <dgm:prSet presAssocID="{097FFB86-56B7-034E-805D-29C0FE37D667}" presName="node" presStyleLbl="node1" presStyleIdx="4" presStyleCnt="5">
        <dgm:presLayoutVars>
          <dgm:bulletEnabled val="1"/>
        </dgm:presLayoutVars>
      </dgm:prSet>
      <dgm:spPr/>
    </dgm:pt>
  </dgm:ptLst>
  <dgm:cxnLst>
    <dgm:cxn modelId="{1C62890C-1DF3-A241-ACE2-F1FEAFE7C441}" type="presOf" srcId="{53354EF5-A361-E640-B177-71EAC8A9EEA3}" destId="{B05C63B4-1DE5-B944-917D-305EBE97BF71}" srcOrd="0" destOrd="0" presId="urn:microsoft.com/office/officeart/2005/8/layout/process2"/>
    <dgm:cxn modelId="{42932E12-91CA-054F-B5C2-DE52BFB666C4}" srcId="{F54ADE90-41E3-7C44-A893-805671C644D7}" destId="{14F9AEF3-E5E9-D544-82DA-055E1B3F562A}" srcOrd="1" destOrd="0" parTransId="{9CFB7AC1-EA80-064C-99B9-AAA1A4CE9926}" sibTransId="{5CC39B18-5BB9-484B-8DB3-79FE256C291E}"/>
    <dgm:cxn modelId="{18B59C25-D4C7-FB45-91C7-86B4B38D3967}" srcId="{F54ADE90-41E3-7C44-A893-805671C644D7}" destId="{097FFB86-56B7-034E-805D-29C0FE37D667}" srcOrd="4" destOrd="0" parTransId="{2154A0EB-98F0-9C44-8BBA-96E48BF84EDF}" sibTransId="{E7D77FDD-DC8C-704D-9D95-1C2D4D465441}"/>
    <dgm:cxn modelId="{CC4C383B-DEE7-C845-BD54-ECBF19D0D72D}" type="presOf" srcId="{CBB8725A-C824-F14B-8A48-F730E808AC86}" destId="{2D25785F-10A4-BD49-8A33-1887479FE963}" srcOrd="1" destOrd="0" presId="urn:microsoft.com/office/officeart/2005/8/layout/process2"/>
    <dgm:cxn modelId="{B28E843B-5F26-E74A-9D07-7E75DF322BEB}" type="presOf" srcId="{E95D9FBF-A6C3-6743-B63C-B704C72B373E}" destId="{B0B0C375-2B8C-B845-AD93-13B4B5FE9A5E}" srcOrd="1" destOrd="0" presId="urn:microsoft.com/office/officeart/2005/8/layout/process2"/>
    <dgm:cxn modelId="{4C642944-43E6-8A47-BD20-9C66BACCF66E}" type="presOf" srcId="{14F9AEF3-E5E9-D544-82DA-055E1B3F562A}" destId="{A08734C8-6245-9449-96D1-34E5A8B57BCD}" srcOrd="0" destOrd="0" presId="urn:microsoft.com/office/officeart/2005/8/layout/process2"/>
    <dgm:cxn modelId="{C5F0EA5E-9582-6D40-BCCC-E9A1D1DDB7B7}" type="presOf" srcId="{5CC39B18-5BB9-484B-8DB3-79FE256C291E}" destId="{24626AF6-0B56-FD4E-988B-C7E8B3EBE6BD}" srcOrd="0" destOrd="0" presId="urn:microsoft.com/office/officeart/2005/8/layout/process2"/>
    <dgm:cxn modelId="{064B225F-1FE9-BC49-BAE1-9F2A957F3F13}" type="presOf" srcId="{F54ADE90-41E3-7C44-A893-805671C644D7}" destId="{589F85AF-1A20-4948-92D7-4516DFDFACD7}" srcOrd="0" destOrd="0" presId="urn:microsoft.com/office/officeart/2005/8/layout/process2"/>
    <dgm:cxn modelId="{1F3F8483-041A-F04B-B24B-D0AA4C0C51BD}" type="presOf" srcId="{C41A99B5-F7C2-5E41-8EEE-3BD51080372C}" destId="{500A5A80-AE51-8D45-A62D-F90100C6E1A6}" srcOrd="0" destOrd="0" presId="urn:microsoft.com/office/officeart/2005/8/layout/process2"/>
    <dgm:cxn modelId="{111F9890-1E56-CD44-B7A7-32D4E08E1417}" type="presOf" srcId="{8B7640DB-C498-794D-B98A-C77E2E913370}" destId="{1C72841B-B6A9-BA44-AB53-41CEA258ECC8}" srcOrd="0" destOrd="0" presId="urn:microsoft.com/office/officeart/2005/8/layout/process2"/>
    <dgm:cxn modelId="{38B819A8-FC4A-EB4B-B42B-6AFB8157D1B2}" type="presOf" srcId="{097FFB86-56B7-034E-805D-29C0FE37D667}" destId="{A1083BA3-020B-5040-AE14-9A70A6949D55}" srcOrd="0" destOrd="0" presId="urn:microsoft.com/office/officeart/2005/8/layout/process2"/>
    <dgm:cxn modelId="{8792ECB8-A350-7543-8649-89BDCB91EC2C}" type="presOf" srcId="{5CC39B18-5BB9-484B-8DB3-79FE256C291E}" destId="{90D333EB-FF13-3944-A686-FEFDD7DF4566}" srcOrd="1" destOrd="0" presId="urn:microsoft.com/office/officeart/2005/8/layout/process2"/>
    <dgm:cxn modelId="{1BF15BC8-B534-2A43-83AD-8BBA72876203}" type="presOf" srcId="{E95D9FBF-A6C3-6743-B63C-B704C72B373E}" destId="{930BCA84-F5CB-054F-B5EE-AD84566B8B7A}" srcOrd="0" destOrd="0" presId="urn:microsoft.com/office/officeart/2005/8/layout/process2"/>
    <dgm:cxn modelId="{AAF5A0CD-3F35-564B-96EB-98468DD3A1E0}" type="presOf" srcId="{C41A99B5-F7C2-5E41-8EEE-3BD51080372C}" destId="{D22CD11B-E517-B841-9EA9-7474367BBE90}" srcOrd="1" destOrd="0" presId="urn:microsoft.com/office/officeart/2005/8/layout/process2"/>
    <dgm:cxn modelId="{CC89BCD3-56C3-5C4B-8597-EF8C854664BC}" type="presOf" srcId="{9B215DB2-A22A-DA4E-B4BB-EC935679FBE7}" destId="{6AFEB704-41A1-F743-9E37-403B3CD6694F}" srcOrd="0" destOrd="0" presId="urn:microsoft.com/office/officeart/2005/8/layout/process2"/>
    <dgm:cxn modelId="{04DF19E0-EFC9-4840-A537-9C7A546078BB}" srcId="{F54ADE90-41E3-7C44-A893-805671C644D7}" destId="{8B7640DB-C498-794D-B98A-C77E2E913370}" srcOrd="2" destOrd="0" parTransId="{2C4A0634-26D1-8149-828C-CEB3B318F59E}" sibTransId="{C41A99B5-F7C2-5E41-8EEE-3BD51080372C}"/>
    <dgm:cxn modelId="{31C053E0-3D7F-C24E-B0B0-FC83C4BCE531}" srcId="{F54ADE90-41E3-7C44-A893-805671C644D7}" destId="{9B215DB2-A22A-DA4E-B4BB-EC935679FBE7}" srcOrd="0" destOrd="0" parTransId="{4D25EF07-FFAC-DC49-96C3-7A8B93B47F4F}" sibTransId="{E95D9FBF-A6C3-6743-B63C-B704C72B373E}"/>
    <dgm:cxn modelId="{B31220E1-7C4C-AB4C-BBCC-AF5D0FDB18F9}" srcId="{F54ADE90-41E3-7C44-A893-805671C644D7}" destId="{53354EF5-A361-E640-B177-71EAC8A9EEA3}" srcOrd="3" destOrd="0" parTransId="{52943CFB-DA03-954F-82E4-9D0EA103DD6F}" sibTransId="{CBB8725A-C824-F14B-8A48-F730E808AC86}"/>
    <dgm:cxn modelId="{D9C114F5-788B-994F-B976-4340B34F02E9}" type="presOf" srcId="{CBB8725A-C824-F14B-8A48-F730E808AC86}" destId="{E6B8B178-0E16-144C-8C87-3FEC6CD97D89}" srcOrd="0" destOrd="0" presId="urn:microsoft.com/office/officeart/2005/8/layout/process2"/>
    <dgm:cxn modelId="{935230A8-F2E7-144A-9337-4B4459872C88}" type="presParOf" srcId="{589F85AF-1A20-4948-92D7-4516DFDFACD7}" destId="{6AFEB704-41A1-F743-9E37-403B3CD6694F}" srcOrd="0" destOrd="0" presId="urn:microsoft.com/office/officeart/2005/8/layout/process2"/>
    <dgm:cxn modelId="{11322273-84F2-C343-9BA8-1F3B08CB4BA5}" type="presParOf" srcId="{589F85AF-1A20-4948-92D7-4516DFDFACD7}" destId="{930BCA84-F5CB-054F-B5EE-AD84566B8B7A}" srcOrd="1" destOrd="0" presId="urn:microsoft.com/office/officeart/2005/8/layout/process2"/>
    <dgm:cxn modelId="{C60CDDF9-07A3-BD4B-8510-BD4D1D418FB0}" type="presParOf" srcId="{930BCA84-F5CB-054F-B5EE-AD84566B8B7A}" destId="{B0B0C375-2B8C-B845-AD93-13B4B5FE9A5E}" srcOrd="0" destOrd="0" presId="urn:microsoft.com/office/officeart/2005/8/layout/process2"/>
    <dgm:cxn modelId="{0045B1D1-9F85-0141-B56D-BACA7D256C7A}" type="presParOf" srcId="{589F85AF-1A20-4948-92D7-4516DFDFACD7}" destId="{A08734C8-6245-9449-96D1-34E5A8B57BCD}" srcOrd="2" destOrd="0" presId="urn:microsoft.com/office/officeart/2005/8/layout/process2"/>
    <dgm:cxn modelId="{31149A4A-6505-2846-A1F1-5D562ED081B8}" type="presParOf" srcId="{589F85AF-1A20-4948-92D7-4516DFDFACD7}" destId="{24626AF6-0B56-FD4E-988B-C7E8B3EBE6BD}" srcOrd="3" destOrd="0" presId="urn:microsoft.com/office/officeart/2005/8/layout/process2"/>
    <dgm:cxn modelId="{C37E319C-CB42-174D-97D5-8B2B36F0BD28}" type="presParOf" srcId="{24626AF6-0B56-FD4E-988B-C7E8B3EBE6BD}" destId="{90D333EB-FF13-3944-A686-FEFDD7DF4566}" srcOrd="0" destOrd="0" presId="urn:microsoft.com/office/officeart/2005/8/layout/process2"/>
    <dgm:cxn modelId="{ACB61742-BC23-E446-9A84-B03603703251}" type="presParOf" srcId="{589F85AF-1A20-4948-92D7-4516DFDFACD7}" destId="{1C72841B-B6A9-BA44-AB53-41CEA258ECC8}" srcOrd="4" destOrd="0" presId="urn:microsoft.com/office/officeart/2005/8/layout/process2"/>
    <dgm:cxn modelId="{95842142-7C46-AD4D-B5E7-422DE697CBEB}" type="presParOf" srcId="{589F85AF-1A20-4948-92D7-4516DFDFACD7}" destId="{500A5A80-AE51-8D45-A62D-F90100C6E1A6}" srcOrd="5" destOrd="0" presId="urn:microsoft.com/office/officeart/2005/8/layout/process2"/>
    <dgm:cxn modelId="{F1AEE372-A9C8-FD48-9878-6CBE08C33792}" type="presParOf" srcId="{500A5A80-AE51-8D45-A62D-F90100C6E1A6}" destId="{D22CD11B-E517-B841-9EA9-7474367BBE90}" srcOrd="0" destOrd="0" presId="urn:microsoft.com/office/officeart/2005/8/layout/process2"/>
    <dgm:cxn modelId="{D0911631-495C-5D49-8BF1-10FD736A7383}" type="presParOf" srcId="{589F85AF-1A20-4948-92D7-4516DFDFACD7}" destId="{B05C63B4-1DE5-B944-917D-305EBE97BF71}" srcOrd="6" destOrd="0" presId="urn:microsoft.com/office/officeart/2005/8/layout/process2"/>
    <dgm:cxn modelId="{B9368BA4-F314-0B45-87D4-23C64405EC8E}" type="presParOf" srcId="{589F85AF-1A20-4948-92D7-4516DFDFACD7}" destId="{E6B8B178-0E16-144C-8C87-3FEC6CD97D89}" srcOrd="7" destOrd="0" presId="urn:microsoft.com/office/officeart/2005/8/layout/process2"/>
    <dgm:cxn modelId="{F1A964E5-A1F5-8045-A0A4-168ECB9EAB91}" type="presParOf" srcId="{E6B8B178-0E16-144C-8C87-3FEC6CD97D89}" destId="{2D25785F-10A4-BD49-8A33-1887479FE963}" srcOrd="0" destOrd="0" presId="urn:microsoft.com/office/officeart/2005/8/layout/process2"/>
    <dgm:cxn modelId="{EBDF8DD1-BBF1-AE40-B3C4-DEA0D46611A5}" type="presParOf" srcId="{589F85AF-1A20-4948-92D7-4516DFDFACD7}" destId="{A1083BA3-020B-5040-AE14-9A70A6949D55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FEB704-41A1-F743-9E37-403B3CD6694F}">
      <dsp:nvSpPr>
        <dsp:cNvPr id="0" name=""/>
        <dsp:cNvSpPr/>
      </dsp:nvSpPr>
      <dsp:spPr>
        <a:xfrm>
          <a:off x="1425669" y="516"/>
          <a:ext cx="2086420" cy="604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Categorical Features </a:t>
          </a:r>
        </a:p>
      </dsp:txBody>
      <dsp:txXfrm>
        <a:off x="1443382" y="18229"/>
        <a:ext cx="2050994" cy="569333"/>
      </dsp:txXfrm>
    </dsp:sp>
    <dsp:sp modelId="{930BCA84-F5CB-054F-B5EE-AD84566B8B7A}">
      <dsp:nvSpPr>
        <dsp:cNvPr id="0" name=""/>
        <dsp:cNvSpPr/>
      </dsp:nvSpPr>
      <dsp:spPr>
        <a:xfrm rot="5400000">
          <a:off x="2355487" y="620395"/>
          <a:ext cx="226784" cy="272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87237" y="643074"/>
        <a:ext cx="163285" cy="158749"/>
      </dsp:txXfrm>
    </dsp:sp>
    <dsp:sp modelId="{A08734C8-6245-9449-96D1-34E5A8B57BCD}">
      <dsp:nvSpPr>
        <dsp:cNvPr id="0" name=""/>
        <dsp:cNvSpPr/>
      </dsp:nvSpPr>
      <dsp:spPr>
        <a:xfrm>
          <a:off x="1425669" y="907656"/>
          <a:ext cx="2086420" cy="604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StringIndexer</a:t>
          </a:r>
          <a:endParaRPr lang="en-US" sz="1800" kern="1200" dirty="0"/>
        </a:p>
      </dsp:txBody>
      <dsp:txXfrm>
        <a:off x="1443382" y="925369"/>
        <a:ext cx="2050994" cy="569333"/>
      </dsp:txXfrm>
    </dsp:sp>
    <dsp:sp modelId="{24626AF6-0B56-FD4E-988B-C7E8B3EBE6BD}">
      <dsp:nvSpPr>
        <dsp:cNvPr id="0" name=""/>
        <dsp:cNvSpPr/>
      </dsp:nvSpPr>
      <dsp:spPr>
        <a:xfrm rot="5400000">
          <a:off x="2355487" y="1527534"/>
          <a:ext cx="226784" cy="272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87237" y="1550213"/>
        <a:ext cx="163285" cy="158749"/>
      </dsp:txXfrm>
    </dsp:sp>
    <dsp:sp modelId="{1C72841B-B6A9-BA44-AB53-41CEA258ECC8}">
      <dsp:nvSpPr>
        <dsp:cNvPr id="0" name=""/>
        <dsp:cNvSpPr/>
      </dsp:nvSpPr>
      <dsp:spPr>
        <a:xfrm>
          <a:off x="1425669" y="1814795"/>
          <a:ext cx="2086420" cy="604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VectorAssembler</a:t>
          </a:r>
          <a:endParaRPr lang="en-US" sz="1800" kern="1200" dirty="0"/>
        </a:p>
      </dsp:txBody>
      <dsp:txXfrm>
        <a:off x="1443382" y="1832508"/>
        <a:ext cx="2050994" cy="569333"/>
      </dsp:txXfrm>
    </dsp:sp>
    <dsp:sp modelId="{500A5A80-AE51-8D45-A62D-F90100C6E1A6}">
      <dsp:nvSpPr>
        <dsp:cNvPr id="0" name=""/>
        <dsp:cNvSpPr/>
      </dsp:nvSpPr>
      <dsp:spPr>
        <a:xfrm rot="5400000">
          <a:off x="2355487" y="2434674"/>
          <a:ext cx="226784" cy="272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87237" y="2457353"/>
        <a:ext cx="163285" cy="158749"/>
      </dsp:txXfrm>
    </dsp:sp>
    <dsp:sp modelId="{B05C63B4-1DE5-B944-917D-305EBE97BF71}">
      <dsp:nvSpPr>
        <dsp:cNvPr id="0" name=""/>
        <dsp:cNvSpPr/>
      </dsp:nvSpPr>
      <dsp:spPr>
        <a:xfrm>
          <a:off x="1425669" y="2721935"/>
          <a:ext cx="2086420" cy="604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Logistic Regression</a:t>
          </a:r>
        </a:p>
      </dsp:txBody>
      <dsp:txXfrm>
        <a:off x="1443382" y="2739648"/>
        <a:ext cx="2050994" cy="569333"/>
      </dsp:txXfrm>
    </dsp:sp>
    <dsp:sp modelId="{E6B8B178-0E16-144C-8C87-3FEC6CD97D89}">
      <dsp:nvSpPr>
        <dsp:cNvPr id="0" name=""/>
        <dsp:cNvSpPr/>
      </dsp:nvSpPr>
      <dsp:spPr>
        <a:xfrm rot="5400000">
          <a:off x="2355487" y="3341813"/>
          <a:ext cx="226784" cy="2721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387237" y="3364492"/>
        <a:ext cx="163285" cy="158749"/>
      </dsp:txXfrm>
    </dsp:sp>
    <dsp:sp modelId="{A1083BA3-020B-5040-AE14-9A70A6949D55}">
      <dsp:nvSpPr>
        <dsp:cNvPr id="0" name=""/>
        <dsp:cNvSpPr/>
      </dsp:nvSpPr>
      <dsp:spPr>
        <a:xfrm>
          <a:off x="1425669" y="3629074"/>
          <a:ext cx="2086420" cy="604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Prediction</a:t>
          </a:r>
        </a:p>
      </dsp:txBody>
      <dsp:txXfrm>
        <a:off x="1443382" y="3646787"/>
        <a:ext cx="2050994" cy="569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D6389-6F59-834C-BCE8-A3323EF230D6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5DDCD-23F2-FB41-8F5C-2CF4B804C1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7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DDCD-23F2-FB41-8F5C-2CF4B804C1C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5DDCD-23F2-FB41-8F5C-2CF4B804C1C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11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81381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2000"/>
              </a:lnSpc>
              <a:defRPr sz="4300" b="1">
                <a:solidFill>
                  <a:srgbClr val="FFFFFF"/>
                </a:solidFill>
              </a:defRPr>
            </a:pPr>
            <a:r>
              <a:t>Patient-Reported Medication</a:t>
            </a:r>
            <a:br/>
            <a:r>
              <a:t>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BEDFF"/>
                </a:solidFill>
              </a:defRPr>
            </a:pPr>
            <a:r>
              <a:t>Using Apache Spark for EDA, Structured Streaming, and MLlib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Jessica Ballard  |  ITCS 6190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Project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691640"/>
            <a:ext cx="10230647" cy="13183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Analyze patient-reported medication experiences from </a:t>
            </a:r>
            <a:r>
              <a:rPr dirty="0" err="1"/>
              <a:t>Druglib.com</a:t>
            </a:r>
            <a:r>
              <a:rPr dirty="0"/>
              <a:t> reviews.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Identify satisfaction patterns across drugs, conditions, effectiveness, and side effects.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Predict whether a review reflects a positive or negative medication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669280" cy="324704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r>
              <a:rPr dirty="0"/>
              <a:t>Source: UCI Drug Review Dataset (</a:t>
            </a:r>
            <a:r>
              <a:rPr dirty="0" err="1"/>
              <a:t>Druglib.com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r>
              <a:rPr dirty="0"/>
              <a:t>Files: </a:t>
            </a:r>
            <a:r>
              <a:rPr dirty="0" err="1"/>
              <a:t>drugLibTrain_raw.tsv</a:t>
            </a:r>
            <a:r>
              <a:rPr dirty="0"/>
              <a:t> and </a:t>
            </a:r>
            <a:r>
              <a:rPr dirty="0" err="1"/>
              <a:t>drugLibTest_raw.tsv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r>
              <a:rPr dirty="0"/>
              <a:t>Key fields: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drug name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condition 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rating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effectiveness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side effects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1C2D44"/>
                </a:solidFill>
              </a:defRPr>
            </a:pPr>
            <a:r>
              <a:rPr b="1" dirty="0"/>
              <a:t>review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91712A-BD9F-4623-7B2E-8FEBF527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98" y="1603260"/>
            <a:ext cx="4449282" cy="365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Pipeline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31720"/>
            <a:ext cx="1325880" cy="384048"/>
          </a:xfrm>
          <a:prstGeom prst="round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Ingestion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39112" y="2423160"/>
            <a:ext cx="411480" cy="201168"/>
          </a:xfrm>
          <a:prstGeom prst="rightArrow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560320" y="2331720"/>
            <a:ext cx="1325880" cy="384048"/>
          </a:xfrm>
          <a:prstGeom prst="round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Cleaning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13631" y="2423160"/>
            <a:ext cx="411480" cy="201168"/>
          </a:xfrm>
          <a:prstGeom prst="rightArrow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1325880" cy="384048"/>
          </a:xfrm>
          <a:prstGeom prst="round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88152" y="2423160"/>
            <a:ext cx="411480" cy="201168"/>
          </a:xfrm>
          <a:prstGeom prst="rightArrow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2331720"/>
            <a:ext cx="1325880" cy="384048"/>
          </a:xfrm>
          <a:prstGeom prst="round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2672" y="2423160"/>
            <a:ext cx="411480" cy="201168"/>
          </a:xfrm>
          <a:prstGeom prst="rightArrow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79" y="2331720"/>
            <a:ext cx="1325880" cy="384048"/>
          </a:xfrm>
          <a:prstGeom prst="round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MLlib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37192" y="2423160"/>
            <a:ext cx="411480" cy="201168"/>
          </a:xfrm>
          <a:prstGeom prst="rightArrow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58400" y="2331720"/>
            <a:ext cx="1325880" cy="384048"/>
          </a:xfrm>
          <a:prstGeom prst="round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49039"/>
            <a:ext cx="96012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r>
              <a:t>Each script produces reproducible outputs used by later pipeline stages.</a:t>
            </a:r>
          </a:p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r>
              <a:t>Final execution is designed to run through a single shell 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rPr dirty="0"/>
              <a:t>Data Cleaning &amp;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5363" y="1303341"/>
            <a:ext cx="5063224" cy="138499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b="1" dirty="0"/>
              <a:t>Data Cleaning Steps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Combined training and test datasets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Removed duplicate records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Removed rows with missing critical fields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Standardized medication and condition values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Saved cleaned dataset as Parquet for efficient Spark processing</a:t>
            </a:r>
            <a:endParaRPr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BB6ED5-469E-FF7E-1895-E9E4A2F76F04}"/>
              </a:ext>
            </a:extLst>
          </p:cNvPr>
          <p:cNvSpPr txBox="1"/>
          <p:nvPr/>
        </p:nvSpPr>
        <p:spPr>
          <a:xfrm>
            <a:off x="6225363" y="2702373"/>
            <a:ext cx="5063224" cy="20313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b="1" dirty="0"/>
              <a:t>Feature Engineering</a:t>
            </a:r>
            <a:endParaRPr lang="en-US" sz="1400" dirty="0"/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review_length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  - Number of characters in each review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positive_review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  - Binary target variable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  - 1 = rating ≥ threshold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  - 0 = otherwise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• condition_clean</a:t>
            </a:r>
          </a:p>
          <a:p>
            <a:pPr>
              <a:defRPr sz="2100">
                <a:solidFill>
                  <a:srgbClr val="1C2D44"/>
                </a:solidFill>
              </a:defRPr>
            </a:pPr>
            <a:r>
              <a:rPr lang="en-US" sz="1400" dirty="0"/>
              <a:t>  - Standardized medical condition field</a:t>
            </a:r>
            <a:endParaRPr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F23487-258D-5BBA-31B2-84D46833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5"/>
          <a:stretch>
            <a:fillRect/>
          </a:stretch>
        </p:blipFill>
        <p:spPr>
          <a:xfrm>
            <a:off x="505337" y="1466521"/>
            <a:ext cx="5365608" cy="37513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64982F-C102-D628-0F0E-2B6A8606D77D}"/>
              </a:ext>
            </a:extLst>
          </p:cNvPr>
          <p:cNvSpPr txBox="1"/>
          <p:nvPr/>
        </p:nvSpPr>
        <p:spPr>
          <a:xfrm>
            <a:off x="6225363" y="4733698"/>
            <a:ext cx="45985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These Steps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Improved data quality and consistency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Reduced noise from duplicate and incomplete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Created features for exploratory analysis and machine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Prepared data for Structured Streaming and </a:t>
            </a:r>
            <a:r>
              <a:rPr lang="en-US" sz="1400" dirty="0" err="1"/>
              <a:t>MLlib</a:t>
            </a:r>
            <a:r>
              <a:rPr lang="en-US" sz="1400" dirty="0"/>
              <a:t> classification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EDA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1834CE-E595-9C67-5FD2-5BAA1D1E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01" y="1372047"/>
            <a:ext cx="3784781" cy="23654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5C1112-FF84-3408-4932-9CF1B298C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764" y="1372047"/>
            <a:ext cx="3942479" cy="23654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8F0E2B-56AB-7BFE-9BF3-D8AC9C487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763" y="3927348"/>
            <a:ext cx="3942480" cy="21637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2E01BD-78F2-CA82-007B-9319EABCFC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117" y="3927348"/>
            <a:ext cx="3777665" cy="21637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ADB760-BEE9-929F-6BB4-B7117AFB095B}"/>
              </a:ext>
            </a:extLst>
          </p:cNvPr>
          <p:cNvSpPr txBox="1"/>
          <p:nvPr/>
        </p:nvSpPr>
        <p:spPr>
          <a:xfrm>
            <a:off x="436116" y="1536192"/>
            <a:ext cx="32868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Performed exploratory data analysis (EDA) using Spark </a:t>
            </a:r>
            <a:r>
              <a:rPr lang="en-US" dirty="0" err="1"/>
              <a:t>DataFrames</a:t>
            </a:r>
            <a:r>
              <a:rPr lang="en-US" dirty="0"/>
              <a:t> to examine rating trends, review frequency by drug, and relationships between ratings, effectiveness, and side effects. </a:t>
            </a:r>
          </a:p>
          <a:p>
            <a:endParaRPr lang="en-US" dirty="0"/>
          </a:p>
          <a:p>
            <a:r>
              <a:rPr lang="en-US" dirty="0"/>
              <a:t>The results provided insights into patient sentiment and informed subsequent streaming and machine learning analyses.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Structured 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24125"/>
            <a:ext cx="5943600" cy="52014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sz="1200" dirty="0"/>
              <a:t>The Structured Streaming pipeline simulates incoming medication review records by reading small batches of historical review data. As new records arrive, Spark automatically updates average satisfaction metrics for each medication.</a:t>
            </a:r>
          </a:p>
          <a:p>
            <a:endParaRPr lang="en-US" sz="1200" dirty="0"/>
          </a:p>
          <a:p>
            <a:r>
              <a:rPr lang="en-US" sz="1200" b="1" dirty="0"/>
              <a:t>Streaming Implementation</a:t>
            </a:r>
          </a:p>
          <a:p>
            <a:r>
              <a:rPr lang="en-US" sz="1200" dirty="0"/>
              <a:t>The cleaned medication review dataset was split into multiple small CSV batches using a batch generation script. Spark Structured Streaming continuously monitored the input folder and processed each batch as if new review records were arriving in real time.</a:t>
            </a:r>
          </a:p>
          <a:p>
            <a:endParaRPr lang="en-US" sz="1200" dirty="0"/>
          </a:p>
          <a:p>
            <a:r>
              <a:rPr lang="en-US" sz="1200" b="1" dirty="0"/>
              <a:t>Batch 0</a:t>
            </a:r>
            <a:r>
              <a:rPr lang="en-US" sz="1200" dirty="0"/>
              <a:t> is the first micro-batch processed by Spark Structured Streaming. It contains the initial set of review records that were read from the simulated streaming input folder.</a:t>
            </a:r>
          </a:p>
          <a:p>
            <a:endParaRPr lang="en-US" sz="1200" dirty="0"/>
          </a:p>
          <a:p>
            <a:r>
              <a:rPr lang="en-US" sz="1200" b="1" dirty="0"/>
              <a:t>Example Output</a:t>
            </a:r>
          </a:p>
          <a:p>
            <a:r>
              <a:rPr lang="en-US" sz="1200" dirty="0" err="1"/>
              <a:t>prilosec</a:t>
            </a:r>
            <a:r>
              <a:rPr lang="en-US" sz="1200" dirty="0"/>
              <a:t> | 9.4 | 5</a:t>
            </a:r>
          </a:p>
          <a:p>
            <a:r>
              <a:rPr lang="en-US" sz="1200" dirty="0"/>
              <a:t>This indicates that Spark processed </a:t>
            </a:r>
            <a:r>
              <a:rPr lang="en-US" sz="1200" b="1" dirty="0"/>
              <a:t>5 reviews</a:t>
            </a:r>
            <a:r>
              <a:rPr lang="en-US" sz="1200" dirty="0"/>
              <a:t> for Prilosec and calculated an </a:t>
            </a:r>
            <a:r>
              <a:rPr lang="en-US" sz="1200" b="1" dirty="0"/>
              <a:t>average satisfaction rating of 9.4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b="1" dirty="0"/>
              <a:t>Why Use Streaming?</a:t>
            </a:r>
          </a:p>
          <a:p>
            <a:r>
              <a:rPr lang="en-US" sz="1200" dirty="0"/>
              <a:t>In a real healthcare or pharmaceutical environment, medication reviews may be submitted continuously. Structured Streaming enables satisfaction metrics to be updated in near real time rather than waiting for a full batch-processing job.</a:t>
            </a:r>
          </a:p>
          <a:p>
            <a:endParaRPr lang="en-US" sz="1200" dirty="0"/>
          </a:p>
          <a:p>
            <a:r>
              <a:rPr lang="en-US" sz="1200" b="1" dirty="0"/>
              <a:t>Key Outcome</a:t>
            </a:r>
          </a:p>
          <a:p>
            <a:r>
              <a:rPr lang="en-US" sz="1200" dirty="0"/>
              <a:t>The streaming job successfully demonstrates how Apache Spark can process incoming review data and continuously update medication satisfaction metrics as new records become available.</a:t>
            </a:r>
          </a:p>
          <a:p>
            <a:pPr>
              <a:spcAft>
                <a:spcPts val="1000"/>
              </a:spcAft>
              <a:defRPr sz="2000">
                <a:solidFill>
                  <a:srgbClr val="1C2D44"/>
                </a:solidFill>
              </a:defRPr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D66D57-9F31-DDA8-4132-85DB07629A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709"/>
          <a:stretch>
            <a:fillRect/>
          </a:stretch>
        </p:blipFill>
        <p:spPr>
          <a:xfrm>
            <a:off x="6949440" y="1042416"/>
            <a:ext cx="4544355" cy="4982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MLlib Classification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" y="1302849"/>
            <a:ext cx="6126480" cy="477053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b="1" dirty="0"/>
              <a:t>Goal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Predict whether a patient-reported medication review reflects a positive or negative medication experience.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endParaRPr lang="en-US" sz="1600" dirty="0"/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b="1" dirty="0"/>
              <a:t>Target Variable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positive review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  • 1 = Positive Review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  • 0 = Negative Review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endParaRPr lang="en-US" sz="1600" dirty="0"/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b="1" dirty="0"/>
              <a:t>Features Used</a:t>
            </a:r>
            <a:endParaRPr lang="en-US" sz="1600" dirty="0"/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• Effectiveness rating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• Side-effect category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• Medical condition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• Review length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endParaRPr lang="en-US" sz="1600" dirty="0"/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b="1" dirty="0"/>
              <a:t>Why This Matters</a:t>
            </a:r>
          </a:p>
          <a:p>
            <a:pPr>
              <a:defRPr sz="1900">
                <a:solidFill>
                  <a:srgbClr val="1C2D44"/>
                </a:solidFill>
              </a:defRPr>
            </a:pPr>
            <a:r>
              <a:rPr lang="en-US" sz="1600" dirty="0"/>
              <a:t>This model demonstrates how patient experience outcomes can be predicted from medication review characteristics using Apache Spark </a:t>
            </a:r>
            <a:r>
              <a:rPr lang="en-US" sz="1600" dirty="0" err="1"/>
              <a:t>MLlib</a:t>
            </a:r>
            <a:r>
              <a:rPr lang="en-US" sz="1600" dirty="0"/>
              <a:t>.</a:t>
            </a:r>
            <a:endParaRPr sz="1600" dirty="0"/>
          </a:p>
        </p:txBody>
      </p:sp>
      <p:sp>
        <p:nvSpPr>
          <p:cNvPr id="13" name="AutoShape 4" descr="Spark MLlib workflow diagram">
            <a:extLst>
              <a:ext uri="{FF2B5EF4-FFF2-40B4-BE49-F238E27FC236}">
                <a16:creationId xmlns:a16="http://schemas.microsoft.com/office/drawing/2014/main" id="{55071432-0549-31A8-ADFF-A3BBBE0D19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136605" cy="3136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F19E1A5-4B1F-9A56-D977-EA6450631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3005332"/>
              </p:ext>
            </p:extLst>
          </p:nvPr>
        </p:nvGraphicFramePr>
        <p:xfrm>
          <a:off x="6873240" y="1439840"/>
          <a:ext cx="4937760" cy="4234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Model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7158" y="1474908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92656"/>
                </a:solidFill>
              </a:defRPr>
            </a:pPr>
            <a:r>
              <a:rPr dirty="0"/>
              <a:t>Accuracy</a:t>
            </a:r>
          </a:p>
          <a:p>
            <a:pPr algn="ctr">
              <a:defRPr sz="1200">
                <a:solidFill>
                  <a:srgbClr val="4E6582"/>
                </a:solidFill>
              </a:defRPr>
            </a:pPr>
            <a:r>
              <a:rPr lang="en-US" sz="1600" dirty="0"/>
              <a:t>88.3%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927158" y="2809932"/>
            <a:ext cx="23774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92656"/>
                </a:solidFill>
              </a:defRPr>
            </a:pPr>
            <a:r>
              <a:rPr dirty="0"/>
              <a:t>AUC</a:t>
            </a:r>
          </a:p>
          <a:p>
            <a:pPr algn="ctr">
              <a:defRPr sz="1200">
                <a:solidFill>
                  <a:srgbClr val="4E6582"/>
                </a:solidFill>
              </a:defRPr>
            </a:pPr>
            <a:r>
              <a:rPr lang="en-US" sz="1600" dirty="0"/>
              <a:t>0.938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005840" y="4594288"/>
            <a:ext cx="9875520" cy="175432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lang="en-US" dirty="0"/>
              <a:t>The model was effective at separating positive and negative patient experiences. It achieved </a:t>
            </a:r>
            <a:r>
              <a:rPr lang="en-US" b="1" dirty="0"/>
              <a:t>88.3% accuracy</a:t>
            </a:r>
            <a:r>
              <a:rPr lang="en-US" dirty="0"/>
              <a:t>, correctly classifying 627 out of 710 test reviews, and an </a:t>
            </a:r>
            <a:r>
              <a:rPr lang="en-US" b="1" dirty="0"/>
              <a:t>AUC of 0.938</a:t>
            </a:r>
            <a:r>
              <a:rPr lang="en-US" dirty="0"/>
              <a:t>, indicating excellent ability to distinguish between positive and negative outcomes. </a:t>
            </a:r>
          </a:p>
          <a:p>
            <a:endParaRPr lang="en-US" dirty="0"/>
          </a:p>
          <a:p>
            <a:r>
              <a:rPr lang="en-US" dirty="0"/>
              <a:t>These results suggest that review characteristics such as effectiveness, side effects, medical condition, and review length are strong predictors of overall patient satisfaction.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DEC6CA-6197-7E33-781F-C10D67931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924" y="1470349"/>
            <a:ext cx="6379537" cy="26791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91695" cy="6858000"/>
          </a:xfrm>
          <a:prstGeom prst="rect">
            <a:avLst/>
          </a:prstGeom>
          <a:solidFill>
            <a:srgbClr val="F4F9FF"/>
          </a:solidFill>
          <a:ln>
            <a:solidFill>
              <a:srgbClr val="F4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92656"/>
          </a:solidFill>
          <a:ln>
            <a:solidFill>
              <a:srgbClr val="092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1695" cy="54864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45720"/>
          </a:xfrm>
          <a:prstGeom prst="rect">
            <a:avLst/>
          </a:prstGeom>
          <a:solidFill>
            <a:srgbClr val="1462B4"/>
          </a:solidFill>
          <a:ln>
            <a:solidFill>
              <a:srgbClr val="146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620256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E6582"/>
                </a:solidFill>
              </a:defRPr>
            </a:pPr>
            <a:r>
              <a:t>ITCS 6190 | Patient-Reported Medication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86384"/>
            <a:ext cx="1088136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3000" b="1">
                <a:solidFill>
                  <a:srgbClr val="092656"/>
                </a:solidFill>
              </a:defRPr>
            </a:pPr>
            <a:r>
              <a:t>Limitations &amp;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9875520" cy="20928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Patient-reported reviews may include bias or inconsistent reporting.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Streaming is simulated using batch files rather than a live source.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Current model uses structured fields only; future work could add NLP features from review text.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>
                <a:solidFill>
                  <a:srgbClr val="1C2D44"/>
                </a:solidFill>
              </a:defRPr>
            </a:pPr>
            <a:r>
              <a:rPr dirty="0"/>
              <a:t>Additional model comparison and tuning could improve prediction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770</Words>
  <Application>Microsoft Macintosh PowerPoint</Application>
  <PresentationFormat>Widescreen</PresentationFormat>
  <Paragraphs>114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Jessica Ballard</cp:lastModifiedBy>
  <cp:revision>5</cp:revision>
  <dcterms:created xsi:type="dcterms:W3CDTF">2013-01-27T09:14:16Z</dcterms:created>
  <dcterms:modified xsi:type="dcterms:W3CDTF">2026-06-18T15:55:25Z</dcterms:modified>
  <cp:category/>
</cp:coreProperties>
</file>